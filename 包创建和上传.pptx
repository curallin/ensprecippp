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7973D5F-91AC-44C9-9331-913D39A5B85D}">
          <p14:sldIdLst>
            <p14:sldId id="256"/>
            <p14:sldId id="257"/>
            <p14:sldId id="258"/>
            <p14:sldId id="260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71F42-50CB-4C5C-9369-AE903EA4459B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38969-7153-444F-B97F-638A26122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67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44D9E-C4AB-F170-A788-BC92E9F30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16F0FD-6D6E-1AE4-3A81-D40FD9E0E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78DE9D-FAEA-DF6E-CAB9-4569A6F3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D9811-1ADA-4911-B6E2-7E349ABB45C5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720A42-DABA-7870-1606-C294E519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A3A890-2736-7288-A983-52EDAE1D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6EDF9-A9FC-4D3B-93BA-0A5E3D514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50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755162-97CF-999B-FF54-11540D90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27947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9C5806-E054-304C-C20E-5775C3207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0507"/>
            <a:ext cx="10515600" cy="4642114"/>
          </a:xfrm>
        </p:spPr>
        <p:txBody>
          <a:bodyPr/>
          <a:lstStyle>
            <a:lvl1pPr>
              <a:buNone/>
              <a:defRPr lang="zh-CN" altLang="en-US" dirty="0" smtClean="0"/>
            </a:lvl1pPr>
            <a:lvl2pPr>
              <a:buNone/>
              <a:defRPr lang="zh-CN" altLang="en-US" dirty="0" smtClean="0"/>
            </a:lvl2pPr>
            <a:lvl3pPr>
              <a:buNone/>
              <a:defRPr lang="zh-CN" altLang="en-US" dirty="0" smtClean="0"/>
            </a:lvl3pPr>
            <a:lvl4pPr>
              <a:buNone/>
              <a:defRPr lang="zh-CN" altLang="en-US" dirty="0" smtClean="0"/>
            </a:lvl4pPr>
            <a:lvl5pPr>
              <a:buNone/>
              <a:defRPr lang="zh-CN" altLang="en-US" dirty="0"/>
            </a:lvl5pPr>
          </a:lstStyle>
          <a:p>
            <a:pPr lvl="0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AFFF10-3F67-720B-D9B3-D4D070CF2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D9811-1ADA-4911-B6E2-7E349ABB45C5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C39E46-DCDF-A915-E667-920CA848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76E8E9-631F-A3E9-EBD5-64CFFDEF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6EDF9-A9FC-4D3B-93BA-0A5E3D514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635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C2BB3-8CC5-93A2-72B4-C0721062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B6BA82-F0A2-696F-2C9E-62DC38E00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763BB4-2619-619F-9710-A1359FFE7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D9811-1ADA-4911-B6E2-7E349ABB45C5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102D3E-EFD8-A1A5-0FBB-8CB90364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1D4AF3-8F20-DA4B-BED3-E2205A93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6EDF9-A9FC-4D3B-93BA-0A5E3D514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897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371D3-3988-3B8E-D89F-37D70A07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9A49FB-D516-FC22-6A40-D2717C34F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E226C0-FDE6-BCE8-D198-928F57392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BEB4AF-E07B-C0F7-7108-B21702853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D9811-1ADA-4911-B6E2-7E349ABB45C5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496D1E-7E11-9FAF-7BBA-38B0792FF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6A4EC3-1320-44C5-AF08-D0E3EF49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6EDF9-A9FC-4D3B-93BA-0A5E3D514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77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E8511E-92E1-6B64-0DBB-44D9DF6CB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C222F9-BCD8-03CB-D2E8-97083A363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C83C54-BCC6-FD04-DC5B-79B8E0514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FB7CB2-B669-6FCD-EC9A-CC6CA3793E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D7A207-FD4B-5F71-F1CB-81824A3F3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9D688A-9D70-E594-0DBA-46F63F37E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D9811-1ADA-4911-B6E2-7E349ABB45C5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E9E725-48F8-65A9-8F3A-CB9DC514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7D2110-53C1-BB2C-B797-27523EEB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6EDF9-A9FC-4D3B-93BA-0A5E3D514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74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C099C-EED2-CE19-8084-6BC7A5137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22C5CF-AB52-7CBF-6D8D-398811D0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D9811-1ADA-4911-B6E2-7E349ABB45C5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90044C-B4AB-07F8-85CF-D4B970B8C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FA23A6-47CC-1C6B-40A4-5D017EF4E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6EDF9-A9FC-4D3B-93BA-0A5E3D514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453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FA39A0-B9A0-045E-E68F-3DA9E5B28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D9811-1ADA-4911-B6E2-7E349ABB45C5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DE0402-4888-D286-1AB2-CF98FB3C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EF10FC-1FB6-A0E3-4B60-1D05FAA1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6EDF9-A9FC-4D3B-93BA-0A5E3D514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829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90CA4-4140-B3B7-6C69-9282AC13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103980-E42D-D51C-6E52-AF93F2FCC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BE044A-BAE1-AC40-B815-255C1C2C3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7269AE-3398-FDDD-7297-9230E7FD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D9811-1ADA-4911-B6E2-7E349ABB45C5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26765D-4C8A-4688-72F0-B0C38167D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BBCBAB-7077-FAB5-3FAF-ED6A486C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6EDF9-A9FC-4D3B-93BA-0A5E3D514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230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81542-A399-B639-E33E-F5468207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E35FDD-979C-D933-800D-D1C37414A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B45E98-010F-E477-971B-1C7E9F7C0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DF4184-1E74-36BD-A665-7CAD9E2E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D9811-1ADA-4911-B6E2-7E349ABB45C5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7302BE-D58A-E63C-6663-717235056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20E22D-391F-5601-628A-716484CFD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6EDF9-A9FC-4D3B-93BA-0A5E3D514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090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481C3-62EB-6C4C-F1B8-A9B766DE9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5C5CA5-C4E5-895B-C006-979BBEB68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0FADC0-D6C7-F519-FCFA-2DAF9911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D9811-1ADA-4911-B6E2-7E349ABB45C5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C99A79-BE7B-277D-1F83-57054DFA6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DDB7D5-28F1-C9B5-4941-00692960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6EDF9-A9FC-4D3B-93BA-0A5E3D514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30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355757-FF34-944D-F884-0B303910F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A2EE9B-0909-4394-BF4C-CFA730752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73FB7C-EB02-86BC-F874-8D2249DE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D9811-1ADA-4911-B6E2-7E349ABB45C5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72DECE-3446-FED3-89D7-28F01C2B3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04AD83-E2A2-F10C-3254-062DDDB8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6EDF9-A9FC-4D3B-93BA-0A5E3D514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63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83C3C5-2BA0-8E8C-8BA3-65E8D0DE2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8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DDDFF8-F05C-799F-0892-169448E56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45334"/>
            <a:ext cx="1135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2AE034-D057-BF89-3023-D17A7A7C57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D9811-1ADA-4911-B6E2-7E349ABB45C5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82F59B-C9AD-E6A7-04A8-25E82B5B6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E8A2A9-AE8C-0C6A-B9FA-E04C97196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B6EDF9-A9FC-4D3B-93BA-0A5E3D514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25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drive/my-drive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9AEB1-5137-DA17-61B3-F985BE9055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Google </a:t>
            </a:r>
            <a:r>
              <a:rPr lang="en-US" altLang="zh-CN" dirty="0" err="1"/>
              <a:t>Colab</a:t>
            </a:r>
            <a:r>
              <a:rPr lang="zh-CN" altLang="en-US" dirty="0"/>
              <a:t>使用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2EC690-7D37-F112-E813-A276158B12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姜富轩</a:t>
            </a:r>
            <a:endParaRPr lang="en-US" altLang="zh-CN" dirty="0"/>
          </a:p>
          <a:p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15</a:t>
            </a:r>
            <a:r>
              <a:rPr lang="zh-CN" altLang="en-US" dirty="0"/>
              <a:t>日 海琴</a:t>
            </a:r>
            <a:r>
              <a:rPr lang="en-US" altLang="zh-CN" dirty="0"/>
              <a:t>1</a:t>
            </a:r>
            <a:r>
              <a:rPr lang="zh-CN" altLang="en-US" dirty="0"/>
              <a:t>号 </a:t>
            </a:r>
            <a:r>
              <a:rPr lang="en-US" altLang="zh-CN" dirty="0"/>
              <a:t>B713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0646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27C14-F903-BAFB-176F-9D2BDC9A7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12873" cy="886691"/>
          </a:xfrm>
        </p:spPr>
        <p:txBody>
          <a:bodyPr/>
          <a:lstStyle/>
          <a:p>
            <a:r>
              <a:rPr lang="zh-CN" altLang="en-US" dirty="0"/>
              <a:t>上传数据集到谷歌云盘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90D28F-A428-DC7C-E21B-F14A39C5A756}"/>
              </a:ext>
            </a:extLst>
          </p:cNvPr>
          <p:cNvSpPr txBox="1"/>
          <p:nvPr/>
        </p:nvSpPr>
        <p:spPr>
          <a:xfrm>
            <a:off x="188238" y="886691"/>
            <a:ext cx="3863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我的云端硬盘 </a:t>
            </a:r>
            <a:r>
              <a:rPr lang="en-US" altLang="zh-CN" dirty="0">
                <a:hlinkClick r:id="rId2"/>
              </a:rPr>
              <a:t>- Google </a:t>
            </a:r>
            <a:r>
              <a:rPr lang="zh-CN" altLang="en-US" dirty="0">
                <a:hlinkClick r:id="rId2"/>
              </a:rPr>
              <a:t>云端硬盘</a:t>
            </a:r>
            <a:endParaRPr lang="zh-CN" altLang="en-US" dirty="0"/>
          </a:p>
        </p:txBody>
      </p:sp>
      <p:pic>
        <p:nvPicPr>
          <p:cNvPr id="6" name="图片 5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D43AD95D-FC84-8217-EF32-C93F4E7A1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38" y="1409267"/>
            <a:ext cx="5907762" cy="3485283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B0C6E93-8E65-D7AB-3E6F-6230E4158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036019"/>
              </p:ext>
            </p:extLst>
          </p:nvPr>
        </p:nvGraphicFramePr>
        <p:xfrm>
          <a:off x="188238" y="5212080"/>
          <a:ext cx="11353800" cy="16459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838450">
                  <a:extLst>
                    <a:ext uri="{9D8B030D-6E8A-4147-A177-3AD203B41FA5}">
                      <a16:colId xmlns:a16="http://schemas.microsoft.com/office/drawing/2014/main" val="952500799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540272373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3289044914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11776422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存储位置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路径示例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是否持久化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021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临时虚拟机磁盘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/content/, /tmp/, /root/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❌ 不持久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会话结束后（通常 </a:t>
                      </a:r>
                      <a:r>
                        <a:rPr lang="en-US" altLang="zh-CN"/>
                        <a:t>12 </a:t>
                      </a:r>
                      <a:r>
                        <a:rPr lang="zh-CN" altLang="en-US"/>
                        <a:t>小时内无活动）自动清空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1452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Google Drive（</a:t>
                      </a:r>
                      <a:r>
                        <a:rPr lang="zh-CN" altLang="en-US"/>
                        <a:t>挂载后）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/content/drive/MyDrive/...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✅ 持久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数据保存在你的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Google 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账号云盘中，长期保留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619220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ABFFD545-1E6F-39F5-C4B6-05034C9E16EB}"/>
              </a:ext>
            </a:extLst>
          </p:cNvPr>
          <p:cNvSpPr txBox="1"/>
          <p:nvPr/>
        </p:nvSpPr>
        <p:spPr>
          <a:xfrm>
            <a:off x="194058" y="4842748"/>
            <a:ext cx="5818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60A26"/>
                </a:solidFill>
                <a:effectLst/>
                <a:latin typeface="PingFang SC"/>
              </a:rPr>
              <a:t>Google </a:t>
            </a:r>
            <a:r>
              <a:rPr lang="en-US" altLang="zh-CN" b="0" i="0" dirty="0" err="1">
                <a:solidFill>
                  <a:srgbClr val="060A26"/>
                </a:solidFill>
                <a:effectLst/>
                <a:latin typeface="PingFang SC"/>
              </a:rPr>
              <a:t>Colab</a:t>
            </a:r>
            <a:r>
              <a:rPr lang="en-US" altLang="zh-CN" b="0" i="0" dirty="0">
                <a:solidFill>
                  <a:srgbClr val="060A26"/>
                </a:solidFill>
                <a:effectLst/>
                <a:latin typeface="PingFang SC"/>
              </a:rPr>
              <a:t> </a:t>
            </a:r>
            <a:r>
              <a:rPr lang="zh-CN" altLang="en-US" b="0" i="0" dirty="0">
                <a:solidFill>
                  <a:srgbClr val="060A26"/>
                </a:solidFill>
                <a:effectLst/>
                <a:latin typeface="PingFang SC"/>
              </a:rPr>
              <a:t>的运行环境分为两个部分：</a:t>
            </a:r>
            <a:endParaRPr lang="zh-CN" alt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8F511D4-5346-9DEB-63FF-2EC40CB0946C}"/>
              </a:ext>
            </a:extLst>
          </p:cNvPr>
          <p:cNvSpPr txBox="1">
            <a:spLocks/>
          </p:cNvSpPr>
          <p:nvPr/>
        </p:nvSpPr>
        <p:spPr>
          <a:xfrm>
            <a:off x="6465455" y="0"/>
            <a:ext cx="5560291" cy="88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挂载云盘，切换目录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D1AB7B-7CE4-7CE2-23ED-61CEAE0BC91A}"/>
              </a:ext>
            </a:extLst>
          </p:cNvPr>
          <p:cNvSpPr txBox="1"/>
          <p:nvPr/>
        </p:nvSpPr>
        <p:spPr>
          <a:xfrm>
            <a:off x="6684818" y="1409267"/>
            <a:ext cx="5121564" cy="866904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lIns="127000" tIns="63500" rIns="127000" bIns="63500" rtlCol="0">
            <a:spAutoFit/>
          </a:bodyPr>
          <a:lstStyle/>
          <a:p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200">
                <a:solidFill>
                  <a:srgbClr val="000000"/>
                </a:solidFill>
                <a:latin typeface="Consolas" panose="020B0609020204030204" pitchFamily="49" charset="0"/>
              </a:rPr>
              <a:t> google.colab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200">
                <a:solidFill>
                  <a:srgbClr val="000000"/>
                </a:solidFill>
                <a:latin typeface="Consolas" panose="020B0609020204030204" pitchFamily="49" charset="0"/>
              </a:rPr>
              <a:t> drive</a:t>
            </a:r>
          </a:p>
          <a:p>
            <a:r>
              <a:rPr lang="en-US" altLang="zh-CN" sz="1200">
                <a:solidFill>
                  <a:srgbClr val="000000"/>
                </a:solidFill>
                <a:latin typeface="Consolas" panose="020B0609020204030204" pitchFamily="49" charset="0"/>
              </a:rPr>
              <a:t>drive.mount(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'/content/drive'</a:t>
            </a:r>
            <a:r>
              <a:rPr lang="en-US" altLang="zh-CN" sz="12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altLang="zh-CN" sz="1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>
                <a:solidFill>
                  <a:srgbClr val="000000"/>
                </a:solidFill>
                <a:latin typeface="Consolas" panose="020B0609020204030204" pitchFamily="49" charset="0"/>
              </a:rPr>
              <a:t>!ls /content/drive/MyDrive</a:t>
            </a:r>
            <a:endParaRPr lang="zh-CN" altLang="en-US" sz="12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67BD8D3-D2FF-69DE-1B21-F84F2E7CDF4F}"/>
              </a:ext>
            </a:extLst>
          </p:cNvPr>
          <p:cNvSpPr txBox="1"/>
          <p:nvPr/>
        </p:nvSpPr>
        <p:spPr>
          <a:xfrm>
            <a:off x="6684818" y="886691"/>
            <a:ext cx="3271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挂载、查看当前目录</a:t>
            </a:r>
          </a:p>
        </p:txBody>
      </p:sp>
      <p:pic>
        <p:nvPicPr>
          <p:cNvPr id="14" name="图片 1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15D6879D-F199-9E4D-4C76-7CF1BDFB1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818" y="2839382"/>
            <a:ext cx="4610100" cy="135255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DDD95CB-317F-7058-0A22-0CF274F9F835}"/>
              </a:ext>
            </a:extLst>
          </p:cNvPr>
          <p:cNvSpPr txBox="1"/>
          <p:nvPr/>
        </p:nvSpPr>
        <p:spPr>
          <a:xfrm>
            <a:off x="6684818" y="2429415"/>
            <a:ext cx="3271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利用</a:t>
            </a:r>
            <a:r>
              <a:rPr lang="en-US" altLang="zh-CN" dirty="0"/>
              <a:t> </a:t>
            </a:r>
            <a:r>
              <a:rPr lang="en-US" altLang="zh-CN" dirty="0" err="1"/>
              <a:t>os</a:t>
            </a:r>
            <a:r>
              <a:rPr lang="en-US" altLang="zh-CN" dirty="0"/>
              <a:t> </a:t>
            </a:r>
            <a:r>
              <a:rPr lang="zh-CN" altLang="en-US" dirty="0"/>
              <a:t>直接切换到项目目录</a:t>
            </a:r>
          </a:p>
        </p:txBody>
      </p:sp>
    </p:spTree>
    <p:extLst>
      <p:ext uri="{BB962C8B-B14F-4D97-AF65-F5344CB8AC3E}">
        <p14:creationId xmlns:p14="http://schemas.microsoft.com/office/powerpoint/2010/main" val="1706843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79F5E-795C-75AA-63AB-927A41AA2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利用单元格执行</a:t>
            </a:r>
            <a:r>
              <a:rPr lang="en-US" altLang="zh-CN" dirty="0"/>
              <a:t> .</a:t>
            </a:r>
            <a:r>
              <a:rPr lang="en-US" altLang="zh-CN" dirty="0" err="1"/>
              <a:t>py</a:t>
            </a:r>
            <a:r>
              <a:rPr lang="en-US" altLang="zh-CN" dirty="0"/>
              <a:t> </a:t>
            </a:r>
            <a:r>
              <a:rPr lang="zh-CN" altLang="en-US" dirty="0"/>
              <a:t>文件</a:t>
            </a:r>
          </a:p>
        </p:txBody>
      </p:sp>
      <p:pic>
        <p:nvPicPr>
          <p:cNvPr id="4" name="图片 3" descr="图形用户界面&#10;&#10;AI 生成的内容可能不正确。">
            <a:extLst>
              <a:ext uri="{FF2B5EF4-FFF2-40B4-BE49-F238E27FC236}">
                <a16:creationId xmlns:a16="http://schemas.microsoft.com/office/drawing/2014/main" id="{9A4EAA23-3E97-B0B1-F66A-E929E5073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7" y="2919806"/>
            <a:ext cx="3523581" cy="374534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2D2CC63-F777-78F4-D5DE-83A5E3E54C91}"/>
              </a:ext>
            </a:extLst>
          </p:cNvPr>
          <p:cNvSpPr txBox="1"/>
          <p:nvPr/>
        </p:nvSpPr>
        <p:spPr>
          <a:xfrm>
            <a:off x="383597" y="1071418"/>
            <a:ext cx="5518439" cy="1663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上一步，我已经切换到项目目录了</a:t>
            </a:r>
            <a:r>
              <a:rPr lang="zh-CN" altLang="en-US" dirty="0"/>
              <a:t>，我想执行</a:t>
            </a:r>
            <a:r>
              <a:rPr lang="zh-CN" altLang="en-US" dirty="0">
                <a:solidFill>
                  <a:srgbClr val="FF0000"/>
                </a:solidFill>
              </a:rPr>
              <a:t>该目录下</a:t>
            </a:r>
            <a:r>
              <a:rPr lang="zh-CN" altLang="en-US" dirty="0"/>
              <a:t>某个可以直接使用</a:t>
            </a:r>
            <a:r>
              <a:rPr lang="en-US" altLang="zh-CN" dirty="0" err="1"/>
              <a:t>argparse</a:t>
            </a:r>
            <a:r>
              <a:rPr lang="zh-CN" altLang="en-US" dirty="0"/>
              <a:t>命令行的代码文件 </a:t>
            </a:r>
            <a:r>
              <a:rPr lang="en-US" altLang="zh-CN" dirty="0"/>
              <a:t>scripts/train.py --…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6788D0-2E00-5405-C74B-952AA94AF324}"/>
              </a:ext>
            </a:extLst>
          </p:cNvPr>
          <p:cNvSpPr txBox="1"/>
          <p:nvPr/>
        </p:nvSpPr>
        <p:spPr>
          <a:xfrm>
            <a:off x="6548582" y="1071418"/>
            <a:ext cx="5116945" cy="2119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如果在本地环境上，我们需要激活环境，然后切换到该文件所在的目录，然后执行 </a:t>
            </a:r>
            <a:r>
              <a:rPr lang="en-US" altLang="zh-CN" dirty="0"/>
              <a:t>python scripts/train.py --…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在这里，我们只需要确保切换当前目录，然后即可直接在单元格执行 </a:t>
            </a:r>
            <a:r>
              <a:rPr lang="en-US" altLang="zh-CN" dirty="0"/>
              <a:t>%run scripts/train.py --</a:t>
            </a:r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47446BAD-C141-BA3D-07A0-9C2C6A54E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582" y="3429000"/>
            <a:ext cx="4970703" cy="255496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CDBE8C2-77BF-5ED0-141E-89843186887D}"/>
              </a:ext>
            </a:extLst>
          </p:cNvPr>
          <p:cNvSpPr txBox="1"/>
          <p:nvPr/>
        </p:nvSpPr>
        <p:spPr>
          <a:xfrm>
            <a:off x="10115358" y="6221996"/>
            <a:ext cx="1403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大功告成！</a:t>
            </a:r>
          </a:p>
        </p:txBody>
      </p:sp>
    </p:spTree>
    <p:extLst>
      <p:ext uri="{BB962C8B-B14F-4D97-AF65-F5344CB8AC3E}">
        <p14:creationId xmlns:p14="http://schemas.microsoft.com/office/powerpoint/2010/main" val="939251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1ED8A-AE0B-4761-7BE0-CB55D129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GPU / TPU </a:t>
            </a:r>
            <a:r>
              <a:rPr lang="zh-CN" altLang="en-US" dirty="0"/>
              <a:t>使用</a:t>
            </a:r>
          </a:p>
        </p:txBody>
      </p:sp>
      <p:pic>
        <p:nvPicPr>
          <p:cNvPr id="4" name="图片 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C96B9855-A763-74B3-31FA-C26F0EAEB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5" y="997528"/>
            <a:ext cx="5486400" cy="546735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F7BB881-9582-C923-1AE4-4F9A8C19D467}"/>
              </a:ext>
            </a:extLst>
          </p:cNvPr>
          <p:cNvSpPr txBox="1"/>
          <p:nvPr/>
        </p:nvSpPr>
        <p:spPr>
          <a:xfrm>
            <a:off x="6096000" y="1320800"/>
            <a:ext cx="555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默认是使用</a:t>
            </a:r>
            <a:r>
              <a:rPr lang="en-US" altLang="zh-CN" dirty="0"/>
              <a:t>CPU</a:t>
            </a:r>
            <a:r>
              <a:rPr lang="zh-CN" altLang="en-US" dirty="0"/>
              <a:t>，这里可以切换使用</a:t>
            </a:r>
            <a:r>
              <a:rPr lang="en-US" altLang="zh-CN" dirty="0"/>
              <a:t>GPU</a:t>
            </a:r>
            <a:r>
              <a:rPr lang="zh-CN" altLang="en-US" dirty="0"/>
              <a:t>和</a:t>
            </a:r>
            <a:r>
              <a:rPr lang="en-US" altLang="zh-CN" dirty="0"/>
              <a:t>TPU</a:t>
            </a:r>
            <a:r>
              <a:rPr lang="zh-CN" altLang="en-US" dirty="0"/>
              <a:t>。</a:t>
            </a:r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B57FE4B8-CAAE-ED8C-05FB-69AEE7686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86489"/>
            <a:ext cx="3248025" cy="12763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BAD046B-7C06-6B8F-9EA7-423D6969219A}"/>
              </a:ext>
            </a:extLst>
          </p:cNvPr>
          <p:cNvSpPr txBox="1"/>
          <p:nvPr/>
        </p:nvSpPr>
        <p:spPr>
          <a:xfrm>
            <a:off x="64655" y="766618"/>
            <a:ext cx="161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8CD962-1B00-FB63-1E2A-F7E52D0F9F50}"/>
              </a:ext>
            </a:extLst>
          </p:cNvPr>
          <p:cNvSpPr txBox="1"/>
          <p:nvPr/>
        </p:nvSpPr>
        <p:spPr>
          <a:xfrm>
            <a:off x="6096000" y="3433618"/>
            <a:ext cx="161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第二种</a:t>
            </a:r>
          </a:p>
        </p:txBody>
      </p:sp>
    </p:spTree>
    <p:extLst>
      <p:ext uri="{BB962C8B-B14F-4D97-AF65-F5344CB8AC3E}">
        <p14:creationId xmlns:p14="http://schemas.microsoft.com/office/powerpoint/2010/main" val="3003068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50F94-9DD9-59CC-EC92-D8FE3724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Matplotlib</a:t>
            </a:r>
            <a:r>
              <a:rPr lang="zh-CN" altLang="en-US" dirty="0"/>
              <a:t>字体使用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DE2869-3E00-13DA-122B-776E8126C56D}"/>
              </a:ext>
            </a:extLst>
          </p:cNvPr>
          <p:cNvSpPr txBox="1"/>
          <p:nvPr/>
        </p:nvSpPr>
        <p:spPr>
          <a:xfrm>
            <a:off x="0" y="1422400"/>
            <a:ext cx="6511636" cy="5062776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lIns="127000" tIns="63500" rIns="127000" bIns="63500" numCol="2" rtlCol="0">
            <a:spAutoFit/>
          </a:bodyPr>
          <a:lstStyle/>
          <a:p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matplotlib.pyplot 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plt</a:t>
            </a:r>
          </a:p>
          <a:p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frykit.plot 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fplt</a:t>
            </a:r>
          </a:p>
          <a:p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cartopy.crs 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ccrs</a:t>
            </a:r>
          </a:p>
          <a:p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cartopy.io.img_tiles 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cimgt</a:t>
            </a:r>
          </a:p>
          <a:p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cartopy.crs 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ccrs</a:t>
            </a:r>
          </a:p>
          <a:p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matplotlib.patches 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Patch</a:t>
            </a:r>
          </a:p>
          <a:p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os</a:t>
            </a:r>
          </a:p>
          <a:p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matplotlib.pyplot 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plt</a:t>
            </a:r>
          </a:p>
          <a:p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cartopy.crs 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ccrs</a:t>
            </a:r>
          </a:p>
          <a:p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geopandas 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gpd</a:t>
            </a:r>
          </a:p>
          <a:p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matplotlib 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rcParams</a:t>
            </a:r>
          </a:p>
          <a:p>
            <a:endParaRPr lang="en-US" altLang="zh-CN" sz="1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00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000">
                <a:solidFill>
                  <a:srgbClr val="008000"/>
                </a:solidFill>
                <a:latin typeface="Consolas" panose="020B0609020204030204" pitchFamily="49" charset="0"/>
              </a:rPr>
              <a:t>使用无衬线体（类似 </a:t>
            </a:r>
            <a:r>
              <a:rPr lang="en-US" altLang="zh-CN" sz="1000">
                <a:solidFill>
                  <a:srgbClr val="008000"/>
                </a:solidFill>
                <a:latin typeface="Consolas" panose="020B0609020204030204" pitchFamily="49" charset="0"/>
              </a:rPr>
              <a:t>Arial</a:t>
            </a:r>
            <a:r>
              <a:rPr lang="zh-CN" altLang="en-US" sz="1000">
                <a:solidFill>
                  <a:srgbClr val="008000"/>
                </a:solidFill>
                <a:latin typeface="Consolas" panose="020B0609020204030204" pitchFamily="49" charset="0"/>
              </a:rPr>
              <a:t>）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plt.rcParams[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'font.family'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'Liberation Sans'</a:t>
            </a:r>
          </a:p>
          <a:p>
            <a:endParaRPr lang="en-US" altLang="zh-CN" sz="1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00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000">
                <a:solidFill>
                  <a:srgbClr val="008000"/>
                </a:solidFill>
                <a:latin typeface="Consolas" panose="020B0609020204030204" pitchFamily="49" charset="0"/>
              </a:rPr>
              <a:t>准备底图范围、投影、缩放大小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extentd = [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70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140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55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altLang="zh-CN" sz="1000">
                <a:solidFill>
                  <a:srgbClr val="008000"/>
                </a:solidFill>
                <a:latin typeface="Consolas" panose="020B0609020204030204" pitchFamily="49" charset="0"/>
              </a:rPr>
              <a:t>#west,east,south,north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zoomlev = 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data_crs = ccrs.PlateCarree()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mercator = ccrs.Mercator()</a:t>
            </a:r>
          </a:p>
          <a:p>
            <a:endParaRPr lang="en-US" altLang="zh-CN" sz="1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fig,ax = plt.subplots(figsize=(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),subplot_kw={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'projection'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: mercator})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fplt.set_map_ticks(ax,extents=extentd)</a:t>
            </a:r>
          </a:p>
          <a:p>
            <a:endParaRPr lang="en-US" altLang="zh-CN" sz="1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google = cimgt.GoogleTiles(style=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'satellite'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 cache=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imgfactory = ax.add_image(google, zoomlev)</a:t>
            </a:r>
          </a:p>
          <a:p>
            <a:endParaRPr lang="en-US" altLang="zh-CN" sz="1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fplt.add_cn_province(ax,edgecolor=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'k'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,linewidth=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0.5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,data_source=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'tianditu'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fplt.add_cn_border(ax,edgecolor=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'w'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,linewidth=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fplt.add_cn_line(ax,edgecolor=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'w'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,linewidth=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altLang="zh-CN" sz="1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00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000">
                <a:solidFill>
                  <a:srgbClr val="008000"/>
                </a:solidFill>
                <a:latin typeface="Consolas" panose="020B0609020204030204" pitchFamily="49" charset="0"/>
              </a:rPr>
              <a:t>添加经纬网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gl = ax.gridlines(draw_labels=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 linewidth=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 color=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'gray'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 alpha=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0.3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 linestyle=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'--'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)                            </a:t>
            </a:r>
            <a:r>
              <a:rPr lang="en-US" altLang="zh-CN" sz="100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000">
                <a:solidFill>
                  <a:srgbClr val="008000"/>
                </a:solidFill>
                <a:latin typeface="Consolas" panose="020B0609020204030204" pitchFamily="49" charset="0"/>
              </a:rPr>
              <a:t>添加经纬度和网格线</a:t>
            </a:r>
          </a:p>
          <a:p>
            <a:endParaRPr lang="zh-CN" altLang="en-US" sz="1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00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000">
                <a:solidFill>
                  <a:srgbClr val="008000"/>
                </a:solidFill>
                <a:latin typeface="Consolas" panose="020B0609020204030204" pitchFamily="49" charset="0"/>
              </a:rPr>
              <a:t>定制图例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legend_elements = [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   Patch(facecolor=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'none'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 edgecolor=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'w'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 label=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'Country Boundary'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    Patch(facecolor=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'none'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 edgecolor=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'k'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 label=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'Province Boundary'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ax.legend(handles=legend_elements, loc=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'lower left'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,fontsize=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,title=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'Legend'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,title_fontsize=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18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,fancybox=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,shadow=</a:t>
            </a:r>
            <a:r>
              <a:rPr lang="en-US" altLang="zh-CN" sz="100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,facecolor=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'w'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,edgecolor=</a:t>
            </a:r>
            <a:r>
              <a:rPr lang="en-US" altLang="zh-CN" sz="1000">
                <a:solidFill>
                  <a:srgbClr val="A31515"/>
                </a:solidFill>
                <a:latin typeface="Consolas" panose="020B0609020204030204" pitchFamily="49" charset="0"/>
              </a:rPr>
              <a:t>'k'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,framealpha=</a:t>
            </a:r>
            <a:r>
              <a:rPr lang="en-US" altLang="zh-CN" sz="1000">
                <a:solidFill>
                  <a:srgbClr val="098658"/>
                </a:solidFill>
                <a:latin typeface="Consolas" panose="020B0609020204030204" pitchFamily="49" charset="0"/>
              </a:rPr>
              <a:t>0.5</a:t>
            </a:r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altLang="zh-CN" sz="1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000">
                <a:solidFill>
                  <a:srgbClr val="000000"/>
                </a:solidFill>
                <a:latin typeface="Consolas" panose="020B0609020204030204" pitchFamily="49" charset="0"/>
              </a:rPr>
              <a:t>plt.show()</a:t>
            </a:r>
            <a:endParaRPr lang="zh-CN" altLang="en-US" sz="10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图片 4" descr="地图&#10;&#10;AI 生成的内容可能不正确。">
            <a:extLst>
              <a:ext uri="{FF2B5EF4-FFF2-40B4-BE49-F238E27FC236}">
                <a16:creationId xmlns:a16="http://schemas.microsoft.com/office/drawing/2014/main" id="{D81B89E7-F67B-0D82-F0AD-4AC4D888A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854" y="1040726"/>
            <a:ext cx="5435330" cy="499485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62AF810-7496-57E7-7A28-C9F9CC2C16A3}"/>
              </a:ext>
            </a:extLst>
          </p:cNvPr>
          <p:cNvSpPr txBox="1"/>
          <p:nvPr/>
        </p:nvSpPr>
        <p:spPr>
          <a:xfrm>
            <a:off x="0" y="1040726"/>
            <a:ext cx="2715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Liberation Sans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402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13053</TotalTime>
  <Words>639</Words>
  <Application>Microsoft Office PowerPoint</Application>
  <PresentationFormat>宽屏</PresentationFormat>
  <Paragraphs>78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PingFang SC</vt:lpstr>
      <vt:lpstr>等线</vt:lpstr>
      <vt:lpstr>Arial</vt:lpstr>
      <vt:lpstr>Consolas</vt:lpstr>
      <vt:lpstr>Verdana</vt:lpstr>
      <vt:lpstr>Office 主题​​</vt:lpstr>
      <vt:lpstr>Google Colab使用</vt:lpstr>
      <vt:lpstr>上传数据集到谷歌云盘</vt:lpstr>
      <vt:lpstr>利用单元格执行 .py 文件</vt:lpstr>
      <vt:lpstr>GPU / TPU 使用</vt:lpstr>
      <vt:lpstr>Matplotlib字体使用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Fuxuan Jiang</dc:creator>
  <cp:lastModifiedBy>miao SCI</cp:lastModifiedBy>
  <cp:revision>59</cp:revision>
  <dcterms:created xsi:type="dcterms:W3CDTF">2025-11-17T06:54:35Z</dcterms:created>
  <dcterms:modified xsi:type="dcterms:W3CDTF">2026-01-15T07:27:45Z</dcterms:modified>
</cp:coreProperties>
</file>